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b926e844-ee3a-4ecb-8a10-0eae9c5ea7ea.fntdata" /><ns0:Relationship Id="rIdFont19" Type="http://schemas.openxmlformats.org/officeDocument/2006/relationships/font" Target="fonts/d911635e-23c5-4a0c-ad73-28e2c44f9b33.fntdata" /><ns0:Relationship Id="rIdFont20" Type="http://schemas.openxmlformats.org/officeDocument/2006/relationships/font" Target="fonts/627043bf-e3c8-48ff-bec3-6d2064cb822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19626"/>
            <a:ext cx="106680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819626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623887"/>
            <a:ext cx="1419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FLYGUARD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51719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A5E9"/>
                </a:solidFill>
                <a:latin typeface="Space Grotesk"/>
              </a:rPr>
              <a:t>NEXT-GENERATION AML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04144"/>
            <a:ext cx="9701212" cy="1839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Inter"/>
              </a:rPr>
              <a:t>Explainable Graph &amp; Behavioral Intelligence for Money-Mule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272706"/>
            <a:ext cx="7524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Stopping multi-hop illicit financial flows without drowning AML teams in false positives.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72038"/>
            <a:ext cx="207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ARCHITECTURE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150" y="6057751"/>
            <a:ext cx="819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050" y="6057751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75" y="6057751"/>
            <a:ext cx="1631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XGBoost + Isotonic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6057751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925" y="6057751"/>
            <a:ext cx="9620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NetworkX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6057751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6057751"/>
            <a:ext cx="1000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TreeSHAP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6057751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0025" y="6057751"/>
            <a:ext cx="1190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Cytoscape.js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29300"/>
            <a:ext cx="10668000" cy="495300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22326"/>
            <a:ext cx="3378249" cy="2175271"/>
          </a:xfrm>
          <a:prstGeom prst="roundRect">
            <a:avLst>
              <a:gd name="adj" fmla="val 61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422326"/>
            <a:ext cx="3378249" cy="2175271"/>
          </a:xfrm>
          <a:prstGeom prst="roundRect">
            <a:avLst>
              <a:gd name="adj" fmla="val 61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422326"/>
            <a:ext cx="3378249" cy="2175271"/>
          </a:xfrm>
          <a:prstGeom prst="roundRect">
            <a:avLst>
              <a:gd name="adj" fmla="val 61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76522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49" y="276522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699" y="2765226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" y="288905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862" y="2889051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0524" y="2889051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MARKET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Mule Detection Crisis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5981700"/>
            <a:ext cx="7417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Core Impact: Legitimate SMBs get frozen while layered mule rings go undetected.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2125" y="5986462"/>
            <a:ext cx="2274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UPI · FedNow · RTP · SEPA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412926"/>
            <a:ext cx="363385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90%–95% 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774876"/>
            <a:ext cx="28638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Static rule alerts overwhelm investigators.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1749" y="3412926"/>
            <a:ext cx="363385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&lt;60 Minute Flight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1749" y="3774876"/>
            <a:ext cx="28638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Instant rails scatter illicit deposits rapidly.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99" y="3412926"/>
            <a:ext cx="363385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$2T Global Laundering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699" y="3774876"/>
            <a:ext cx="28638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Regulators reject unexplainable black-box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181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147292"/>
            <a:ext cx="5162550" cy="3030140"/>
          </a:xfrm>
          <a:prstGeom prst="roundRect">
            <a:avLst>
              <a:gd name="adj" fmla="val 50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7450" y="2147292"/>
            <a:ext cx="5162550" cy="3030140"/>
          </a:xfrm>
          <a:prstGeom prst="roundRect">
            <a:avLst>
              <a:gd name="adj" fmla="val 50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561629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2561629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ARCHITECTURAL FLAWS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Why Existing Defenses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6134100"/>
            <a:ext cx="6667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Required: Topology-aware models with human-verifiable evidence chains.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8275" y="2537817"/>
            <a:ext cx="288786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Legacy Static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004542"/>
            <a:ext cx="54768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Blind to Topology: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Misses circular rings and splitters.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415903"/>
            <a:ext cx="4476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Threshold Evasion: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Mules operate just below dollar caps.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067175"/>
            <a:ext cx="4476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High Operational Cost: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Freezes high-volume merchant SMBs.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2537817"/>
            <a:ext cx="343792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Standard Black-Box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3004542"/>
            <a:ext cx="4476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Target Leakage: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Account ID overfitting inflates benchmarks.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655814"/>
            <a:ext cx="4476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Temporal Lookahead: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Training leaks future transaction 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4307085"/>
            <a:ext cx="4476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No SAR Filing: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Regulators reject unexplainable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753100"/>
            <a:ext cx="10668000" cy="5715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09862"/>
            <a:ext cx="249555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86150" y="2709862"/>
            <a:ext cx="249555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709862"/>
            <a:ext cx="249555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34450" y="2709862"/>
            <a:ext cx="249555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709862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86150" y="2709862"/>
            <a:ext cx="38100" cy="15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2709862"/>
            <a:ext cx="38100" cy="1524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34450" y="2709862"/>
            <a:ext cx="38100" cy="1524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PLATFORM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FlyGuard Investigative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5943600"/>
            <a:ext cx="5560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Inter"/>
              </a:rPr>
              <a:t>Full Case Dossiers &amp; Tamper-Evident Audit Trails Included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475" y="5948362"/>
            <a:ext cx="2536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12-PAGE COMMAND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2995612"/>
            <a:ext cx="2200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26 Anti-Leak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548062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Velocity, burst, and graph centrality.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2850" y="2995612"/>
            <a:ext cx="26253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Calibrated Risk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2850" y="3319462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0–100 monotonic risk index.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2995612"/>
            <a:ext cx="2200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TreeSHAP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548062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Plain-English evidence summaries.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2995612"/>
            <a:ext cx="2200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Multi-Hop Graph Tracer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3548062"/>
            <a:ext cx="209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Interactive 1–3 hop ring tracing.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134100"/>
            <a:ext cx="10668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6134100"/>
            <a:ext cx="28575" cy="190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605212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94150" y="3605212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3605212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900362"/>
            <a:ext cx="8427690" cy="3619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89690" y="2900362"/>
            <a:ext cx="1600200" cy="3619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890" y="2900362"/>
            <a:ext cx="639960" cy="3619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RIGOROUS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3-Tier Behavioral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6134100"/>
            <a:ext cx="112490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Anti-Leakage Protocol: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GroupShuffleSplit on scenario IDs with strict temporal cutoff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86037"/>
            <a:ext cx="597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200,000 Transactions across 20,000 Synthetic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7825" y="2586037"/>
            <a:ext cx="2702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Space Grotesk"/>
              </a:rPr>
              <a:t>seed=42 · Zero Target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2900362"/>
            <a:ext cx="838959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Inter"/>
              </a:rPr>
              <a:t>79% Legitimate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3990" y="2900362"/>
            <a:ext cx="1581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Inter"/>
              </a:rPr>
              <a:t>15% Hard Negatives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7015" y="2900362"/>
            <a:ext cx="92571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Inter"/>
              </a:rPr>
              <a:t>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43337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Inter"/>
              </a:rPr>
              <a:t>Legitimate (79%)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119562"/>
            <a:ext cx="302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Payroll, retail savings, and P2P transfers.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275" y="3843337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Hard Negatives (15%)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275" y="4119562"/>
            <a:ext cx="302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High-volume SMBs and payment collectors.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3843337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91C1C"/>
                </a:solidFill>
                <a:latin typeface="Inter"/>
              </a:rPr>
              <a:t>Money Mules (6%)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4425" y="4119562"/>
            <a:ext cx="302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Funnels, circular rings, and burst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10250"/>
            <a:ext cx="10668000" cy="514350"/>
          </a:xfrm>
          <a:prstGeom prst="roundRect">
            <a:avLst>
              <a:gd name="adj" fmla="val 185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47937"/>
            <a:ext cx="10668000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205162"/>
            <a:ext cx="10668000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3862387"/>
            <a:ext cx="10668000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4519612"/>
            <a:ext cx="10668000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2547937"/>
            <a:ext cx="5301853" cy="209550"/>
          </a:xfrm>
          <a:prstGeom prst="roundRect">
            <a:avLst>
              <a:gd name="adj" fmla="val 2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3205162"/>
            <a:ext cx="2197596" cy="209550"/>
          </a:xfrm>
          <a:prstGeom prst="roundRect">
            <a:avLst>
              <a:gd name="adj" fmla="val 27272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3862387"/>
            <a:ext cx="1034653" cy="209550"/>
          </a:xfrm>
          <a:prstGeom prst="roundRect">
            <a:avLst>
              <a:gd name="adj" fmla="val 27272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4519612"/>
            <a:ext cx="896094" cy="209550"/>
          </a:xfrm>
          <a:prstGeom prst="roundRect">
            <a:avLst>
              <a:gd name="adj" fmla="val 27272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FEATURE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Predictive Behavioral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5972175"/>
            <a:ext cx="6500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Isotonic Calibration maps raw probabilities into calibrated triage bands: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7100" y="5976937"/>
            <a:ext cx="4893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Low (&lt;35) · Mod (35–65) · High (65–85) · Critical (&gt;=85)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271712"/>
            <a:ext cx="2893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median_holding_time_hours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0" y="2271712"/>
            <a:ext cx="762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49.7%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928937"/>
            <a:ext cx="4512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high_risk_channel_ratio (P2P, Wire, Crypto)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5175" y="2928937"/>
            <a:ext cx="790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20.6%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586162"/>
            <a:ext cx="43219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rapid_passthrough_ratio (&lt;3h forwarding)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58525" y="3586162"/>
            <a:ext cx="657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9.7%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243387"/>
            <a:ext cx="5012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graph_centrality (PageRank, Cycle Participation)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39475" y="4243387"/>
            <a:ext cx="676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8.4%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67400"/>
            <a:ext cx="10668000" cy="4572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285107"/>
            <a:ext cx="5162550" cy="2487810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7450" y="2285107"/>
            <a:ext cx="5162550" cy="2487810"/>
          </a:xfrm>
          <a:prstGeom prst="roundRect">
            <a:avLst>
              <a:gd name="adj" fmla="val 61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19875" y="3467992"/>
            <a:ext cx="445770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425" y="3467992"/>
            <a:ext cx="44577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4425" y="3467992"/>
            <a:ext cx="38100" cy="419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14425" y="4001392"/>
            <a:ext cx="44577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4425" y="4001392"/>
            <a:ext cx="38100" cy="419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647057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64705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75" y="3806130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EXPLAINABILITY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TreeSHAP &amp; Counterfactual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6000750"/>
            <a:ext cx="1123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Provides defensible evidence narratives directly ingestible into SAR filings.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3037582"/>
            <a:ext cx="5572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Transparent log-odds drivers per account.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3037582"/>
            <a:ext cx="5572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Simulate parameter adjustments interactively.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2637532"/>
            <a:ext cx="286285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TreeSHAP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3582292"/>
            <a:ext cx="4248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Holding Time &lt;0.5h (+2.4 log-odds)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4115692"/>
            <a:ext cx="4248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Instant P2P Rail Ratio &gt;90% (+1.8 log-odds)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2637532"/>
            <a:ext cx="36004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"What-If" Counterfactuals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3639442"/>
            <a:ext cx="1200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Baseline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3839467"/>
            <a:ext cx="12001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C2626"/>
                </a:solidFill>
                <a:latin typeface="Inter"/>
              </a:rPr>
              <a:t>94.2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5475" y="3639442"/>
            <a:ext cx="1738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Simulated (+36h hold)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5475" y="3839467"/>
            <a:ext cx="173831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6A34A"/>
                </a:solidFill>
                <a:latin typeface="Inter"/>
              </a:rPr>
              <a:t>18.5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1952625"/>
            <a:ext cx="5114925" cy="3429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62150"/>
            <a:ext cx="5095875" cy="3409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GRAPH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Multi-Hop Network Graph Tracer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143625"/>
            <a:ext cx="1797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Ego Network Bounds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5075" y="6143625"/>
            <a:ext cx="217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Edge Reciprocity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2950" y="6143625"/>
            <a:ext cx="2369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Interactive Node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19387"/>
            <a:ext cx="66883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NetworkX + Cytoscape.js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4187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Sub-second browser rendering of 1–3 hop rings.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14712"/>
            <a:ext cx="66883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Circular Cycle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719512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Surfaces recursive rings up to 5 hops deep.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10037"/>
            <a:ext cx="66883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Shortest Laundering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414837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Traces flow routes between designated endpoints.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29300"/>
            <a:ext cx="10668000" cy="495300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95562"/>
            <a:ext cx="3378249" cy="1828800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595562"/>
            <a:ext cx="3378249" cy="1828800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595562"/>
            <a:ext cx="3378249" cy="1828800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94798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294798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947987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COMPLIANCE &amp;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Enterprise Governance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5981700"/>
            <a:ext cx="11201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Regulatory Guardrail: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Decision-support triage scores explicitly separated from legal proof of guilt.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328987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671887"/>
            <a:ext cx="29210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Automatic redaction of tokens and keys.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328987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Production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3671887"/>
            <a:ext cx="29210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Hard blocks against accidental database reset.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328987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Turnkey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671887"/>
            <a:ext cx="29210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Docker Compose ready with full test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05000" y="5033962"/>
            <a:ext cx="83820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05000" y="3452812"/>
            <a:ext cx="2565350" cy="1123950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13250" y="3452812"/>
            <a:ext cx="2565350" cy="1123950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1500" y="3452812"/>
            <a:ext cx="2565350" cy="1123950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05000" y="5033962"/>
            <a:ext cx="838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8187" y="1395412"/>
            <a:ext cx="3095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PROVEN IMPACT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2923" y="1747837"/>
            <a:ext cx="922615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Triage Alerts in Under 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500312"/>
            <a:ext cx="8572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Slashing false positives on legitimate SMBs while capturing multi-hop rings in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1915" y="5272087"/>
            <a:ext cx="2797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Next: Real-Time Kafka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012" y="527208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8465" y="5272087"/>
            <a:ext cx="3369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Temporal Graph Neural Networks (TGN)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2912" y="527208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815" y="5272087"/>
            <a:ext cx="1654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FinCEN XML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0081" y="3681412"/>
            <a:ext cx="263518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Inter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0081" y="4157662"/>
            <a:ext cx="2635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Inter"/>
              </a:rPr>
              <a:t>Alert Noise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8331" y="3681412"/>
            <a:ext cx="263518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4D399"/>
                </a:solidFill>
                <a:latin typeface="Inter"/>
              </a:rPr>
              <a:t>12x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8331" y="4157662"/>
            <a:ext cx="2635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Inter"/>
              </a:rPr>
              <a:t>Faster SAR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6581" y="3681412"/>
            <a:ext cx="2635187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A78BFA"/>
                </a:solidFill>
                <a:latin typeface="Inter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6581" y="4157662"/>
            <a:ext cx="2635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Inter"/>
              </a:rPr>
              <a:t>Explainable Attributions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9715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https://images.stockcake.com/public/6/5/8/6587f152-dde0-4e3a-b244-521cde2a52f4_large/digital-financial-network-stockcake.jpg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